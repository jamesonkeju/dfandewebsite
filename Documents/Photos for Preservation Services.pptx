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62" r:id="rId5"/>
    <p:sldId id="261" r:id="rId6"/>
    <p:sldId id="265" r:id="rId7"/>
    <p:sldId id="266" r:id="rId8"/>
    <p:sldId id="267" r:id="rId9"/>
    <p:sldId id="268" r:id="rId10"/>
    <p:sldId id="273" r:id="rId11"/>
    <p:sldId id="274" r:id="rId12"/>
    <p:sldId id="275" r:id="rId13"/>
    <p:sldId id="272" r:id="rId14"/>
    <p:sldId id="271" r:id="rId15"/>
    <p:sldId id="270" r:id="rId16"/>
    <p:sldId id="269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19" autoAdjust="0"/>
  </p:normalViewPr>
  <p:slideViewPr>
    <p:cSldViewPr snapToGrid="0">
      <p:cViewPr varScale="1">
        <p:scale>
          <a:sx n="126" d="100"/>
          <a:sy n="126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Scope of Application…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Preservation of Outdoor Stored Equipment</a:t>
            </a:r>
          </a:p>
          <a:p>
            <a:pPr algn="just"/>
            <a:r>
              <a:rPr lang="en-US" sz="2000" dirty="0"/>
              <a:t>Scope of activity includes: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Visual Inspection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Cleaning / Buffing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Greasing/Oiling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Refurbishment (as might be applicable)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Application of Guardian Protective Solution</a:t>
            </a:r>
          </a:p>
          <a:p>
            <a:pPr algn="just"/>
            <a:endParaRPr lang="en-US" sz="2000" dirty="0"/>
          </a:p>
        </p:txBody>
      </p:sp>
      <p:pic>
        <p:nvPicPr>
          <p:cNvPr id="1026" name="37614EDD-27AE-4DF5-B5AA-DA9BB69DC13A">
            <a:extLst>
              <a:ext uri="{FF2B5EF4-FFF2-40B4-BE49-F238E27FC236}">
                <a16:creationId xmlns:a16="http://schemas.microsoft.com/office/drawing/2014/main" id="{91A7AD18-6DD7-4CB8-9497-7CA39C58A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66" y="3376548"/>
            <a:ext cx="4878111" cy="3443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91EB6FE8-6454-4397-9ABC-F89C5C8D61C2">
            <a:extLst>
              <a:ext uri="{FF2B5EF4-FFF2-40B4-BE49-F238E27FC236}">
                <a16:creationId xmlns:a16="http://schemas.microsoft.com/office/drawing/2014/main" id="{28E5804F-A6D6-43EA-BA2D-0F1F26486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974" y="870954"/>
            <a:ext cx="4606576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5818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Scope of Application…continued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Preservation of Indoor/Sheltered Equipment</a:t>
            </a:r>
          </a:p>
          <a:p>
            <a:pPr algn="just"/>
            <a:r>
              <a:rPr lang="en-US" sz="2000" dirty="0"/>
              <a:t>Scope of activity includes: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Visual Inspection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Cleaning / Buffing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Greasing/Oiling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Refurbishment (as might be applicable)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Blasting &amp; Painting (as might be required)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Application of Guardian Protective Solution</a:t>
            </a:r>
          </a:p>
        </p:txBody>
      </p:sp>
      <p:pic>
        <p:nvPicPr>
          <p:cNvPr id="7" name="Picture 6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A4DAFAB1-E45C-4887-A037-F2B12830F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93" y="5287645"/>
            <a:ext cx="2581275" cy="1532255"/>
          </a:xfrm>
          <a:prstGeom prst="rect">
            <a:avLst/>
          </a:prstGeom>
        </p:spPr>
      </p:pic>
      <p:pic>
        <p:nvPicPr>
          <p:cNvPr id="10" name="Picture 9" descr="A picture containing ground, bedroom&#10;&#10;Description automatically generated">
            <a:extLst>
              <a:ext uri="{FF2B5EF4-FFF2-40B4-BE49-F238E27FC236}">
                <a16:creationId xmlns:a16="http://schemas.microsoft.com/office/drawing/2014/main" id="{FA97AF53-F9E3-4E0D-BCC5-F570ED0430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512893" y="2591368"/>
            <a:ext cx="2581275" cy="1311275"/>
          </a:xfrm>
          <a:prstGeom prst="rect">
            <a:avLst/>
          </a:prstGeom>
        </p:spPr>
      </p:pic>
      <p:pic>
        <p:nvPicPr>
          <p:cNvPr id="11" name="Picture 10" descr="A picture containing table&#10;&#10;Description automatically generated">
            <a:extLst>
              <a:ext uri="{FF2B5EF4-FFF2-40B4-BE49-F238E27FC236}">
                <a16:creationId xmlns:a16="http://schemas.microsoft.com/office/drawing/2014/main" id="{699CE168-0375-467B-B65D-558E3B0D48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93" y="3935459"/>
            <a:ext cx="2581275" cy="1323340"/>
          </a:xfrm>
          <a:prstGeom prst="rect">
            <a:avLst/>
          </a:prstGeom>
        </p:spPr>
      </p:pic>
      <p:pic>
        <p:nvPicPr>
          <p:cNvPr id="12" name="Picture Placeholder 4">
            <a:extLst>
              <a:ext uri="{FF2B5EF4-FFF2-40B4-BE49-F238E27FC236}">
                <a16:creationId xmlns:a16="http://schemas.microsoft.com/office/drawing/2014/main" id="{7C3FB117-C4B6-45CE-BBB9-0AB7F09B104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554211" y="2925868"/>
            <a:ext cx="4233771" cy="35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3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Nigeria – Provision of Preservation Services at Onne (</a:t>
            </a:r>
            <a:r>
              <a:rPr lang="en-US" sz="2000" b="1" dirty="0" err="1"/>
              <a:t>Shorebase</a:t>
            </a:r>
            <a:r>
              <a:rPr lang="en-US" sz="2000" b="1" dirty="0"/>
              <a:t> &amp; USAN), Nigeria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1A8E5-64DF-4685-BE4C-3C39FFD28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356" y="3047016"/>
            <a:ext cx="2607888" cy="3299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AEDDB9-1B45-476D-93A4-C6F8AD863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07" y="3083448"/>
            <a:ext cx="2891777" cy="3299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646210" y="63017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After                                         Before                                     After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4286A64-CA93-43D1-A2D0-2D0C0FECE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26" y="3047015"/>
            <a:ext cx="2607887" cy="3299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DB649D-6FC5-42DD-8E35-A2F92F113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2063" y="3047015"/>
            <a:ext cx="2807992" cy="32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0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Nigeria – Provision of Preservation Services at Onne (</a:t>
            </a:r>
            <a:r>
              <a:rPr lang="en-US" sz="2000" b="1" dirty="0" err="1"/>
              <a:t>Shorebase</a:t>
            </a:r>
            <a:r>
              <a:rPr lang="en-US" sz="2000" b="1" dirty="0"/>
              <a:t> &amp; USAN), Nigeria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646210" y="63017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After                                         Before                                     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A913CC-E8FB-4533-AE13-45C0C4441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97" y="3241266"/>
            <a:ext cx="2548502" cy="3060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935A1A-359E-4CA6-83BB-F7CAB9C78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6964" y="3252627"/>
            <a:ext cx="2548502" cy="30195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7FD626-D5B2-46DD-94EF-E6DB2BC45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10" y="3200383"/>
            <a:ext cx="2182942" cy="30717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9B1F63-6298-4879-A499-0D13F1AEC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3582" y="3211744"/>
            <a:ext cx="2548502" cy="30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6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Nigeria – Provision of Preservation Services at Onne (</a:t>
            </a:r>
            <a:r>
              <a:rPr lang="en-US" sz="2000" b="1" dirty="0" err="1"/>
              <a:t>Shorebase</a:t>
            </a:r>
            <a:r>
              <a:rPr lang="en-US" sz="2000" b="1" dirty="0"/>
              <a:t> &amp; USAN), Nigeria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646210" y="63017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After                                         Before                                     After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AEAB9-14FF-4C59-BC38-70AB1F71B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43" y="3437277"/>
            <a:ext cx="2420034" cy="2733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7211F5-0A14-43A2-8A8C-7E2BB02EC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202" y="3396347"/>
            <a:ext cx="2543632" cy="27747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3E2D2C-C243-4683-9924-589387B33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10" y="3241266"/>
            <a:ext cx="2433542" cy="28305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9E8F26-C55B-42A7-8AD4-9E776B283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758" y="3323206"/>
            <a:ext cx="2648231" cy="28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7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Nigeria – Provision of Preservation Services at Onne (</a:t>
            </a:r>
            <a:r>
              <a:rPr lang="en-US" sz="2000" b="1" dirty="0" err="1"/>
              <a:t>Shorebase</a:t>
            </a:r>
            <a:r>
              <a:rPr lang="en-US" sz="2000" b="1" dirty="0"/>
              <a:t> &amp; USAN), Nigeria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646210" y="63017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After                                         Before                                     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537023-EBAC-41C2-B471-04DAAAFDE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940" y="3156858"/>
            <a:ext cx="2618551" cy="3144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F8FB7E-3574-4689-88BD-CAF7C4FF2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693" y="3156858"/>
            <a:ext cx="2475962" cy="3144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E8922E-171F-4DB7-9709-63BDCD0E0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15" y="3156857"/>
            <a:ext cx="2524696" cy="3197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CA75E8-9575-4CC3-B029-B438AC1839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8747" y="3156858"/>
            <a:ext cx="2618551" cy="322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9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776837" y="6246373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             Before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Malaysia – Preservation of Xmas Tree Equipment</a:t>
            </a:r>
          </a:p>
        </p:txBody>
      </p:sp>
      <p:pic>
        <p:nvPicPr>
          <p:cNvPr id="13" name="Content Placeholder 4" descr="A large machine in a room&#10;&#10;Description generated with very high confidence">
            <a:extLst>
              <a:ext uri="{FF2B5EF4-FFF2-40B4-BE49-F238E27FC236}">
                <a16:creationId xmlns:a16="http://schemas.microsoft.com/office/drawing/2014/main" id="{A4D15FE6-5880-4634-8D7B-52E038A6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4621" y="2924038"/>
            <a:ext cx="3242775" cy="3375812"/>
          </a:xfrm>
        </p:spPr>
      </p:pic>
      <p:pic>
        <p:nvPicPr>
          <p:cNvPr id="18" name="Picture 17" descr="A picture containing indoor, floor, table, wall&#10;&#10;Description generated with high confidence">
            <a:extLst>
              <a:ext uri="{FF2B5EF4-FFF2-40B4-BE49-F238E27FC236}">
                <a16:creationId xmlns:a16="http://schemas.microsoft.com/office/drawing/2014/main" id="{BBF1B369-6CDC-44AD-9BF1-85C50325111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8267" y="2969366"/>
            <a:ext cx="2956723" cy="3268785"/>
          </a:xfrm>
          <a:prstGeom prst="rect">
            <a:avLst/>
          </a:prstGeom>
        </p:spPr>
      </p:pic>
      <p:pic>
        <p:nvPicPr>
          <p:cNvPr id="19" name="Picture 18" descr="A bedroom with a bed and a chair in a room&#10;&#10;Description generated with high confidence">
            <a:extLst>
              <a:ext uri="{FF2B5EF4-FFF2-40B4-BE49-F238E27FC236}">
                <a16:creationId xmlns:a16="http://schemas.microsoft.com/office/drawing/2014/main" id="{06B99F96-06D1-4574-8D5F-7AA4D7F6A1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5509" y="2982270"/>
            <a:ext cx="3242775" cy="326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4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231112" y="6244557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             Before  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EOG – Preservation of Running Tools</a:t>
            </a:r>
          </a:p>
        </p:txBody>
      </p:sp>
      <p:pic>
        <p:nvPicPr>
          <p:cNvPr id="12" name="Content Placeholder 6" descr="A picture containing building, ground, person, outdoor&#10;&#10;Description generated with very high confidence">
            <a:extLst>
              <a:ext uri="{FF2B5EF4-FFF2-40B4-BE49-F238E27FC236}">
                <a16:creationId xmlns:a16="http://schemas.microsoft.com/office/drawing/2014/main" id="{E76D50C6-AC1B-4FF0-8977-FA73A973AB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27408" y="3558327"/>
            <a:ext cx="3279478" cy="2117855"/>
          </a:xfrm>
        </p:spPr>
      </p:pic>
      <p:pic>
        <p:nvPicPr>
          <p:cNvPr id="15" name="Picture 14" descr="A picture containing ground, outdoor, building, sitting&#10;&#10;Description generated with very high confidence">
            <a:extLst>
              <a:ext uri="{FF2B5EF4-FFF2-40B4-BE49-F238E27FC236}">
                <a16:creationId xmlns:a16="http://schemas.microsoft.com/office/drawing/2014/main" id="{C49BF6D1-D1A9-4189-B955-FC432A2B34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9786" y="2977515"/>
            <a:ext cx="2333692" cy="3279480"/>
          </a:xfrm>
          <a:prstGeom prst="rect">
            <a:avLst/>
          </a:prstGeom>
        </p:spPr>
      </p:pic>
      <p:pic>
        <p:nvPicPr>
          <p:cNvPr id="17" name="Picture 16" descr="A close up of a building&#10;&#10;Description generated with high confidence">
            <a:extLst>
              <a:ext uri="{FF2B5EF4-FFF2-40B4-BE49-F238E27FC236}">
                <a16:creationId xmlns:a16="http://schemas.microsoft.com/office/drawing/2014/main" id="{4EBAB681-6343-4BF7-9724-4293D66D95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425558" y="3558326"/>
            <a:ext cx="3279480" cy="2117857"/>
          </a:xfrm>
          <a:prstGeom prst="rect">
            <a:avLst/>
          </a:prstGeom>
        </p:spPr>
      </p:pic>
      <p:pic>
        <p:nvPicPr>
          <p:cNvPr id="20" name="Picture 19" descr="A picture containing ground, building, person, fence&#10;&#10;Description generated with very high confidence">
            <a:extLst>
              <a:ext uri="{FF2B5EF4-FFF2-40B4-BE49-F238E27FC236}">
                <a16:creationId xmlns:a16="http://schemas.microsoft.com/office/drawing/2014/main" id="{3F3F64DA-93FD-41C8-9381-72D7DFA1B14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7524" y="2975503"/>
            <a:ext cx="2357263" cy="329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87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1145512" y="6244557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             Before  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EOG – Preservation of Wellhead Equipment</a:t>
            </a:r>
          </a:p>
        </p:txBody>
      </p:sp>
      <p:pic>
        <p:nvPicPr>
          <p:cNvPr id="13" name="Content Placeholder 7" descr="A picture containing green, ground, sitting, indoor&#10;&#10;Description generated with very high confidence">
            <a:extLst>
              <a:ext uri="{FF2B5EF4-FFF2-40B4-BE49-F238E27FC236}">
                <a16:creationId xmlns:a16="http://schemas.microsoft.com/office/drawing/2014/main" id="{F1C23703-E31B-49EB-8A77-766EF4ACF8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500" y="2977514"/>
            <a:ext cx="4429046" cy="3310587"/>
          </a:xfrm>
        </p:spPr>
      </p:pic>
      <p:pic>
        <p:nvPicPr>
          <p:cNvPr id="18" name="Content Placeholder 9" descr="A picture containing building, outdoor&#10;&#10;Description generated with very high confidence">
            <a:extLst>
              <a:ext uri="{FF2B5EF4-FFF2-40B4-BE49-F238E27FC236}">
                <a16:creationId xmlns:a16="http://schemas.microsoft.com/office/drawing/2014/main" id="{442C23BA-D582-46ED-8DB8-29A8188527A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565623" y="2055098"/>
            <a:ext cx="3310587" cy="515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8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776837" y="6246373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             Before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ExxonMobil Malaysia – Preservation of Halliburton Screens</a:t>
            </a:r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08E6887A-375D-4B72-9133-E4955BB51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12087" y="2946944"/>
            <a:ext cx="2571417" cy="3329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B1D665-F3DA-41B0-A71D-C860FD3CDC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47" t="2836" r="8393" b="19025"/>
          <a:stretch/>
        </p:blipFill>
        <p:spPr>
          <a:xfrm>
            <a:off x="4871548" y="2988419"/>
            <a:ext cx="2719898" cy="3324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0F0373B-346B-4E48-A1A1-61BAE50E9FA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04"/>
          <a:stretch/>
        </p:blipFill>
        <p:spPr>
          <a:xfrm>
            <a:off x="7619501" y="2988419"/>
            <a:ext cx="2636248" cy="332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34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1908951" y="6301704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Small Spare Parts Solutions</a:t>
            </a:r>
          </a:p>
        </p:txBody>
      </p:sp>
      <p:pic>
        <p:nvPicPr>
          <p:cNvPr id="9" name="Content Placeholder 5" descr="A picture containing floor&#10;&#10;Description automatically generated">
            <a:extLst>
              <a:ext uri="{FF2B5EF4-FFF2-40B4-BE49-F238E27FC236}">
                <a16:creationId xmlns:a16="http://schemas.microsoft.com/office/drawing/2014/main" id="{3D94B42F-F929-4A62-926F-262862FCB4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85799" y="3005931"/>
            <a:ext cx="5334001" cy="3200400"/>
          </a:xfrm>
        </p:spPr>
      </p:pic>
      <p:pic>
        <p:nvPicPr>
          <p:cNvPr id="11" name="Content Placeholder 7" descr="A picture containing floor&#10;&#10;Description automatically generated">
            <a:extLst>
              <a:ext uri="{FF2B5EF4-FFF2-40B4-BE49-F238E27FC236}">
                <a16:creationId xmlns:a16="http://schemas.microsoft.com/office/drawing/2014/main" id="{2654EAE9-47F1-4BD7-892C-AE2EFBA32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005929"/>
            <a:ext cx="5704114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4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1908951" y="6301704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Before                                                                                       After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Riser Solutions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EE2315-1380-47C3-AA95-23949FBCC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6" y="3121330"/>
            <a:ext cx="5159450" cy="3232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4A3FCD-924E-4E94-81C0-7C7FEE6E8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121330"/>
            <a:ext cx="5812971" cy="32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76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Client References…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5D9998-2337-400F-AB55-7D7F22E7FE84}"/>
              </a:ext>
            </a:extLst>
          </p:cNvPr>
          <p:cNvSpPr txBox="1"/>
          <p:nvPr/>
        </p:nvSpPr>
        <p:spPr>
          <a:xfrm>
            <a:off x="2529439" y="6301704"/>
            <a:ext cx="9292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                      Before                                                                    After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2B2141-AE60-4BC4-ADD7-7B6C28257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46" y="3166053"/>
            <a:ext cx="3894039" cy="31356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4E5FBA-EA56-427F-937D-8F0B1A8DC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565" y="3121810"/>
            <a:ext cx="5394474" cy="32306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82698-9D5F-48D5-BA78-101E42FCBC28}"/>
              </a:ext>
            </a:extLst>
          </p:cNvPr>
          <p:cNvSpPr txBox="1"/>
          <p:nvPr/>
        </p:nvSpPr>
        <p:spPr>
          <a:xfrm>
            <a:off x="192704" y="3080541"/>
            <a:ext cx="25722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Heavy Duty 22oz vinyl</a:t>
            </a:r>
          </a:p>
          <a:p>
            <a:pPr algn="just"/>
            <a:r>
              <a:rPr lang="en-US" sz="2000" dirty="0"/>
              <a:t>10 – year life</a:t>
            </a:r>
          </a:p>
          <a:p>
            <a:pPr algn="l"/>
            <a:r>
              <a:rPr lang="en-US" sz="2000" dirty="0"/>
              <a:t>Custom built</a:t>
            </a:r>
          </a:p>
          <a:p>
            <a:pPr algn="l"/>
            <a:r>
              <a:rPr lang="en-US" sz="2000" dirty="0"/>
              <a:t>Grommets, straps, buckles…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8D7D0-A78B-4305-8954-5BDD3EF71B18}"/>
              </a:ext>
            </a:extLst>
          </p:cNvPr>
          <p:cNvSpPr txBox="1"/>
          <p:nvPr/>
        </p:nvSpPr>
        <p:spPr>
          <a:xfrm>
            <a:off x="511550" y="2577404"/>
            <a:ext cx="10899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Jacket Solutions</a:t>
            </a:r>
          </a:p>
        </p:txBody>
      </p:sp>
    </p:spTree>
    <p:extLst>
      <p:ext uri="{BB962C8B-B14F-4D97-AF65-F5344CB8AC3E}">
        <p14:creationId xmlns:p14="http://schemas.microsoft.com/office/powerpoint/2010/main" val="1998088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" y="1319182"/>
            <a:ext cx="11029616" cy="1188720"/>
          </a:xfrm>
        </p:spPr>
        <p:txBody>
          <a:bodyPr/>
          <a:lstStyle/>
          <a:p>
            <a:r>
              <a:rPr lang="en-US" i="1" cap="none" dirty="0"/>
              <a:t>Key Benefits from Our Solution…</a:t>
            </a:r>
          </a:p>
        </p:txBody>
      </p:sp>
      <p:pic>
        <p:nvPicPr>
          <p:cNvPr id="5" name="Picture 1" descr="Logo">
            <a:extLst>
              <a:ext uri="{FF2B5EF4-FFF2-40B4-BE49-F238E27FC236}">
                <a16:creationId xmlns:a16="http://schemas.microsoft.com/office/drawing/2014/main" id="{B7403BAD-B079-4691-AE3C-2D24F2E6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2" y="503878"/>
            <a:ext cx="3178037" cy="13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" descr="Logo&#10;&#10;Description automatically generated">
            <a:extLst>
              <a:ext uri="{FF2B5EF4-FFF2-40B4-BE49-F238E27FC236}">
                <a16:creationId xmlns:a16="http://schemas.microsoft.com/office/drawing/2014/main" id="{2D947AF7-202C-4D26-8D7E-63260FC4E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550" y="585818"/>
            <a:ext cx="1565916" cy="179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E191F-2E5B-4EBD-A028-E3D7DD895497}"/>
              </a:ext>
            </a:extLst>
          </p:cNvPr>
          <p:cNvSpPr txBox="1"/>
          <p:nvPr/>
        </p:nvSpPr>
        <p:spPr>
          <a:xfrm>
            <a:off x="511550" y="2482154"/>
            <a:ext cx="108995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Suitable for preservation of a wide range of equipment &amp; materials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Clean, safe &amp; easy to use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Huge savings with reduced total equipment ownership cost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Addresses UV exposure challenges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Safe on other materials such as plastics, rubber and vinyl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Not permanent; allows for flexibility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 Chemicals; can be recycled</a:t>
            </a:r>
            <a:endParaRPr lang="en-GB" sz="2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Alters the environment to remove moisture and humidity</a:t>
            </a:r>
            <a:endParaRPr lang="en-GB" sz="2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 reapplication, purge is permanent until removed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a typeface="Times New Roman" panose="02020603050405020304" pitchFamily="18" charset="0"/>
                <a:cs typeface="Arial" panose="020B0604020202020204" pitchFamily="34" charset="0"/>
              </a:rPr>
              <a:t>Extended storage period (Over </a:t>
            </a: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10 year plus)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Is re-usable when applied</a:t>
            </a:r>
            <a:endParaRPr lang="en-GB" sz="2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a typeface="Times New Roman" panose="02020603050405020304" pitchFamily="18" charset="0"/>
                <a:cs typeface="Arial" panose="020B0604020202020204" pitchFamily="34" charset="0"/>
              </a:rPr>
              <a:t>Waste reduction as m</a:t>
            </a:r>
            <a:r>
              <a:rPr lang="en-US" sz="2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aterial is built for individual item rather that large rolls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Available 24/7 local technical support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ea typeface="Calibri" panose="020F0502020204030204" pitchFamily="34" charset="0"/>
                <a:cs typeface="Arial" panose="020B0604020202020204" pitchFamily="34" charset="0"/>
              </a:rPr>
              <a:t>Successful track record with key customers such as ExxonMobil, EOG, </a:t>
            </a:r>
            <a:r>
              <a:rPr lang="en-US" sz="2000" dirty="0" err="1">
                <a:ea typeface="Calibri" panose="020F0502020204030204" pitchFamily="34" charset="0"/>
                <a:cs typeface="Arial" panose="020B0604020202020204" pitchFamily="34" charset="0"/>
              </a:rPr>
              <a:t>etc</a:t>
            </a:r>
            <a:endParaRPr lang="en-GB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23840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16c05727-aa75-4e4a-9b5f-8a80a1165891"/>
    <ds:schemaRef ds:uri="http://purl.org/dc/dcmitype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{521B7AA0-FA6F-49C0-BE64-4CB4AD74DEF6}tf33552983_win32</Template>
  <TotalTime>8598</TotalTime>
  <Words>383</Words>
  <Application>Microsoft Macintosh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Franklin Gothic Book</vt:lpstr>
      <vt:lpstr>Franklin Gothic Demi</vt:lpstr>
      <vt:lpstr>Times New Roman</vt:lpstr>
      <vt:lpstr>Wingdings</vt:lpstr>
      <vt:lpstr>Wingdings 2</vt:lpstr>
      <vt:lpstr>DividendVTI</vt:lpstr>
      <vt:lpstr>Scope of Application…</vt:lpstr>
      <vt:lpstr>Scope of Application…continued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Client References…</vt:lpstr>
      <vt:lpstr>Key Benefits from Our Solution…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Preservation Service Proposal</dc:title>
  <dc:creator>believe idoro</dc:creator>
  <cp:lastModifiedBy>Billy Idoro</cp:lastModifiedBy>
  <cp:revision>62</cp:revision>
  <dcterms:created xsi:type="dcterms:W3CDTF">2022-04-08T10:48:00Z</dcterms:created>
  <dcterms:modified xsi:type="dcterms:W3CDTF">2024-09-07T22:45:44Z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